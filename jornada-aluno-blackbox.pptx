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0" cy="36576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1097280"/>
            <a:ext cx="36576" cy="320040"/>
          </a:xfrm>
          <a:prstGeom prst="rect">
            <a:avLst/>
          </a:prstGeom>
          <a:solidFill>
            <a:srgbClr val="50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54296" y="1097280"/>
            <a:ext cx="36576" cy="320040"/>
          </a:xfrm>
          <a:prstGeom prst="rect">
            <a:avLst/>
          </a:prstGeom>
          <a:solidFill>
            <a:srgbClr val="50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36592" y="1097280"/>
            <a:ext cx="36576" cy="320040"/>
          </a:xfrm>
          <a:prstGeom prst="rect">
            <a:avLst/>
          </a:prstGeom>
          <a:solidFill>
            <a:srgbClr val="50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18888" y="1097280"/>
            <a:ext cx="36576" cy="320040"/>
          </a:xfrm>
          <a:prstGeom prst="rect">
            <a:avLst/>
          </a:prstGeom>
          <a:solidFill>
            <a:srgbClr val="50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74336" y="1115568"/>
            <a:ext cx="201168" cy="201168"/>
          </a:xfrm>
          <a:prstGeom prst="rect">
            <a:avLst/>
          </a:prstGeom>
          <a:solidFill>
            <a:srgbClr val="0A0A0A"/>
          </a:solidFill>
          <a:ln w="12700">
            <a:solidFill>
              <a:srgbClr val="504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64592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5F5F0"/>
                </a:solidFill>
                <a:latin typeface="Arial Black"/>
              </a:rPr>
              <a:t>BLACKBOX.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645920"/>
            <a:ext cx="1371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8B84B"/>
                </a:solidFill>
                <a:latin typeface="Arial Black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657600"/>
            <a:ext cx="8531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AAAAA0"/>
                </a:solidFill>
                <a:latin typeface="Arial Black"/>
              </a:rPr>
              <a:t>JORNADA DO ALUNO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4526280"/>
            <a:ext cx="457200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66344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B84B"/>
                </a:solidFill>
                <a:latin typeface="Courier New"/>
              </a:rPr>
              <a:t>Do primeiro contato à faixa preta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07492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ourier New"/>
              </a:rPr>
              <a:t>APRESENTAÇÃO INTERNA ·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5623560"/>
            <a:ext cx="1645920" cy="256032"/>
          </a:xfrm>
          <a:prstGeom prst="rect">
            <a:avLst/>
          </a:prstGeom>
          <a:solidFill>
            <a:srgbClr val="181405"/>
          </a:solidFill>
          <a:ln w="635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56235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8B84B"/>
                </a:solidFill>
                <a:latin typeface="Courier New"/>
              </a:rPr>
              <a:t>3 UNIDADES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5623560"/>
            <a:ext cx="1645920" cy="256032"/>
          </a:xfrm>
          <a:prstGeom prst="rect">
            <a:avLst/>
          </a:prstGeom>
          <a:solidFill>
            <a:srgbClr val="181405"/>
          </a:solidFill>
          <a:ln w="635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56235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8B84B"/>
                </a:solidFill>
                <a:latin typeface="Courier New"/>
              </a:rPr>
              <a:t>5 MODALIDADES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5623560"/>
            <a:ext cx="1645920" cy="256032"/>
          </a:xfrm>
          <a:prstGeom prst="rect">
            <a:avLst/>
          </a:prstGeom>
          <a:solidFill>
            <a:srgbClr val="181405"/>
          </a:solidFill>
          <a:ln w="635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56235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8B84B"/>
                </a:solidFill>
                <a:latin typeface="Courier New"/>
              </a:rPr>
              <a:t>APP BASEBJJ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5623560"/>
            <a:ext cx="1645920" cy="256032"/>
          </a:xfrm>
          <a:prstGeom prst="rect">
            <a:avLst/>
          </a:prstGeom>
          <a:solidFill>
            <a:srgbClr val="181405"/>
          </a:solidFill>
          <a:ln w="635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56235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8B84B"/>
                </a:solidFill>
                <a:latin typeface="Courier New"/>
              </a:rPr>
              <a:t>SITE BLACKBOX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" cy="36576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B84B"/>
                </a:solidFill>
                <a:latin typeface="Courier New"/>
              </a:rPr>
              <a:t>VISÃO GERAL · 8 ETAPAS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F5F0"/>
                </a:solidFill>
                <a:latin typeface="Arial Black"/>
              </a:rPr>
              <a:t>JORNADA COMPLETA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365760" cy="2286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DM Sans"/>
              </a:rPr>
              <a:t>Do primeiro contato no WhatsApp ao tatame — com acompanhamento digital via BaseBJJ e gestão ativa de graduações pelo professor.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240280"/>
            <a:ext cx="411480" cy="411480"/>
          </a:xfrm>
          <a:prstGeom prst="ellipse">
            <a:avLst/>
          </a:prstGeom>
          <a:solidFill>
            <a:srgbClr val="2A2A2A"/>
          </a:solidFill>
          <a:ln w="19050">
            <a:solidFill>
              <a:srgbClr val="44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44028"/>
                </a:solidFill>
                <a:latin typeface="Arial Black"/>
              </a:rPr>
              <a:t>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7432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460"/>
                </a:solidFill>
                <a:latin typeface="Courier New"/>
              </a:rPr>
              <a:t>WhatsApp
Contato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2587752"/>
            <a:ext cx="201168" cy="182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03120" y="2240280"/>
            <a:ext cx="411480" cy="411480"/>
          </a:xfrm>
          <a:prstGeom prst="ellipse">
            <a:avLst/>
          </a:prstGeom>
          <a:solidFill>
            <a:srgbClr val="2A2A2A"/>
          </a:solidFill>
          <a:ln w="19050">
            <a:solidFill>
              <a:srgbClr val="44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44028"/>
                </a:solidFill>
                <a:latin typeface="Arial Black"/>
              </a:rPr>
              <a:t>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27432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460"/>
                </a:solidFill>
                <a:latin typeface="Courier New"/>
              </a:rPr>
              <a:t>Site
Blackbox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2587752"/>
            <a:ext cx="201168" cy="182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56432" y="2240280"/>
            <a:ext cx="411480" cy="411480"/>
          </a:xfrm>
          <a:prstGeom prst="ellipse">
            <a:avLst/>
          </a:prstGeom>
          <a:solidFill>
            <a:srgbClr val="2A2A2A"/>
          </a:solidFill>
          <a:ln w="19050">
            <a:solidFill>
              <a:srgbClr val="44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44028"/>
                </a:solidFill>
                <a:latin typeface="Arial Black"/>
              </a:rPr>
              <a:t>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27432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460"/>
                </a:solidFill>
                <a:latin typeface="Courier New"/>
              </a:rPr>
              <a:t>Formulário
Agend.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1104" y="2587752"/>
            <a:ext cx="201168" cy="182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09744" y="2240280"/>
            <a:ext cx="411480" cy="411480"/>
          </a:xfrm>
          <a:prstGeom prst="ellipse">
            <a:avLst/>
          </a:prstGeom>
          <a:solidFill>
            <a:srgbClr val="2A2A2A"/>
          </a:solidFill>
          <a:ln w="19050">
            <a:solidFill>
              <a:srgbClr val="44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44028"/>
                </a:solidFill>
                <a:latin typeface="Arial Black"/>
              </a:rPr>
              <a:t>Aula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27432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460"/>
                </a:solidFill>
                <a:latin typeface="Courier New"/>
              </a:rPr>
              <a:t>Aula
Exp.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14416" y="2587752"/>
            <a:ext cx="201168" cy="182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63056" y="2240280"/>
            <a:ext cx="411480" cy="411480"/>
          </a:xfrm>
          <a:prstGeom prst="ellipse">
            <a:avLst/>
          </a:prstGeom>
          <a:solidFill>
            <a:srgbClr val="2A2A2A"/>
          </a:solidFill>
          <a:ln w="19050">
            <a:solidFill>
              <a:srgbClr val="44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44028"/>
                </a:solidFill>
                <a:latin typeface="Arial Black"/>
              </a:rPr>
              <a:t>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33288" y="27432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460"/>
                </a:solidFill>
                <a:latin typeface="Courier New"/>
              </a:rPr>
              <a:t>Cadastro
BaseBJJ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67728" y="2587752"/>
            <a:ext cx="201168" cy="182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16368" y="2240280"/>
            <a:ext cx="411480" cy="411480"/>
          </a:xfrm>
          <a:prstGeom prst="ellipse">
            <a:avLst/>
          </a:prstGeom>
          <a:solidFill>
            <a:srgbClr val="2A2A2A"/>
          </a:solidFill>
          <a:ln w="19050">
            <a:solidFill>
              <a:srgbClr val="44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44028"/>
                </a:solidFill>
                <a:latin typeface="Arial Black"/>
              </a:rPr>
              <a:t>Pag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7432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460"/>
                </a:solidFill>
                <a:latin typeface="Courier New"/>
              </a:rPr>
              <a:t>Pagamento
Matríc.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2587752"/>
            <a:ext cx="201168" cy="182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69680" y="2240280"/>
            <a:ext cx="411480" cy="411480"/>
          </a:xfrm>
          <a:prstGeom prst="ellipse">
            <a:avLst/>
          </a:prstGeom>
          <a:solidFill>
            <a:srgbClr val="2A2A2A"/>
          </a:solidFill>
          <a:ln w="19050">
            <a:solidFill>
              <a:srgbClr val="44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44028"/>
                </a:solidFill>
                <a:latin typeface="Arial Black"/>
              </a:rPr>
              <a:t>BJJ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2" y="27432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460"/>
                </a:solidFill>
                <a:latin typeface="Courier New"/>
              </a:rPr>
              <a:t>Acesso
Academia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74352" y="2587752"/>
            <a:ext cx="201168" cy="182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22992" y="2240280"/>
            <a:ext cx="411480" cy="411480"/>
          </a:xfrm>
          <a:prstGeom prst="ellipse">
            <a:avLst/>
          </a:prstGeom>
          <a:solidFill>
            <a:srgbClr val="2A2A2A"/>
          </a:solidFill>
          <a:ln w="19050">
            <a:solidFill>
              <a:srgbClr val="44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44028"/>
                </a:solidFill>
                <a:latin typeface="Arial Black"/>
              </a:rPr>
              <a:t>Grad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93224" y="27432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460"/>
                </a:solidFill>
                <a:latin typeface="Courier New"/>
              </a:rPr>
              <a:t>Graduação
Evolução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246120"/>
            <a:ext cx="1161288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383280"/>
            <a:ext cx="2743200" cy="2286000"/>
          </a:xfrm>
          <a:prstGeom prst="rect">
            <a:avLst/>
          </a:prstGeom>
          <a:solidFill>
            <a:srgbClr val="141208"/>
          </a:solidFill>
          <a:ln w="1270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351129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A03A"/>
                </a:solidFill>
                <a:latin typeface="Courier New"/>
              </a:rPr>
              <a:t>CONVERSÃO ESPERADA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36758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B84B"/>
                </a:solidFill>
                <a:latin typeface="Arial Black"/>
              </a:rPr>
              <a:t>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41330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DM Sans"/>
              </a:rPr>
              <a:t>Alunos que fazem a aula experimental
e se matriculam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91256" y="3383280"/>
            <a:ext cx="2743200" cy="2286000"/>
          </a:xfrm>
          <a:prstGeom prst="rect">
            <a:avLst/>
          </a:prstGeom>
          <a:solidFill>
            <a:srgbClr val="141208"/>
          </a:solidFill>
          <a:ln w="1270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55848" y="351129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A03A"/>
                </a:solidFill>
                <a:latin typeface="Courier New"/>
              </a:rPr>
              <a:t>TEMPO DE RESPOSTA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36758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B84B"/>
                </a:solidFill>
                <a:latin typeface="Arial Black"/>
              </a:rPr>
              <a:t>&lt; 5min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55848" y="41330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DM Sans"/>
              </a:rPr>
              <a:t>No WhatsApp aumenta 8× a
chance de converter o lead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62472" y="3383280"/>
            <a:ext cx="2743200" cy="2286000"/>
          </a:xfrm>
          <a:prstGeom prst="rect">
            <a:avLst/>
          </a:prstGeom>
          <a:solidFill>
            <a:srgbClr val="141208"/>
          </a:solidFill>
          <a:ln w="1270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7064" y="351129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A03A"/>
                </a:solidFill>
                <a:latin typeface="Courier New"/>
              </a:rPr>
              <a:t>GESTÃO DIGITAL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27064" y="36758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B84B"/>
                </a:solidFill>
                <a:latin typeface="Arial Black"/>
              </a:rPr>
              <a:t>BaseBJJ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27064" y="41330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DM Sans"/>
              </a:rPr>
              <a:t>Cadastro, pagamentos e
graduações integrados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33688" y="3383280"/>
            <a:ext cx="2743200" cy="2286000"/>
          </a:xfrm>
          <a:prstGeom prst="rect">
            <a:avLst/>
          </a:prstGeom>
          <a:solidFill>
            <a:srgbClr val="141208"/>
          </a:solidFill>
          <a:ln w="1270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8280" y="351129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A03A"/>
                </a:solidFill>
                <a:latin typeface="Courier New"/>
              </a:rPr>
              <a:t>PRÉ-VENDA DIGITAL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36758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B84B"/>
                </a:solidFill>
                <a:latin typeface="Arial Black"/>
              </a:rPr>
              <a:t>Site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41330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DM Sans"/>
              </a:rPr>
              <a:t>Aluno chega motivado e
informado antes da 1ª aula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7790" cy="36576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743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0" b="1" i="0">
                <a:solidFill>
                  <a:srgbClr val="151205"/>
                </a:solidFill>
                <a:latin typeface="Arial Black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B84B"/>
                </a:solidFill>
                <a:latin typeface="Courier New"/>
              </a:rPr>
              <a:t>ETAPA 01 · CAPTAÇÃO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5F5F0"/>
                </a:solidFill>
                <a:latin typeface="Arial Black"/>
              </a:rPr>
              <a:t>PRIMEIRO CONTATO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65760" cy="2286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CANAL DE ENTRADA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84248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WhatsApp — canal principal. Resposta em menos de 5 min = 8× mais conversão.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68296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042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Instagram — DMs e stories com link para o site. Conteúdo de treinos gera interesse.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52344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8833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Indicação de alunos — maior taxa de conversão e menor custo de aquisição.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36392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7238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Presença física — passante ou familiar de aluno na recepção da unidade.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0440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564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Tráfego pago — Meta Ads e Google Ads. Segmentação local em Cajamar e Santana de Parnaíba.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40480"/>
            <a:ext cx="50292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950208"/>
            <a:ext cx="5029200" cy="1371600"/>
          </a:xfrm>
          <a:prstGeom prst="rect">
            <a:avLst/>
          </a:prstGeom>
          <a:solidFill>
            <a:srgbClr val="141208"/>
          </a:solidFill>
          <a:ln w="1270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950208"/>
            <a:ext cx="36576" cy="13716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5993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8B84B"/>
                </a:solidFill>
                <a:latin typeface="Courier New"/>
              </a:rPr>
              <a:t>TEMPLATE DE BOAS-VINDAS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976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F5F0"/>
                </a:solidFill>
                <a:latin typeface="DM Sans"/>
              </a:rPr>
              <a:t>"Olá [nome]! Seja bem-vindo à Blackbox Jiu-Jitsu 🥋
Aqui está nosso site para conhecer a academia:
blackbox.com.br
Quando gostaria de fazer sua aula experimental gratuita?"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664208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FONTES DE LEADS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19202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956816"/>
            <a:ext cx="530352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97510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Instagram / Redes Sociais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2128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Stories com link para o site. Conteúdo de treinos gera interesse orgânico.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72491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761488"/>
            <a:ext cx="530352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7797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Indicação de Alunos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0175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Programa: aluno que traz amigo ganha benefício. Maior LTV, menor CAC.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52958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566160"/>
            <a:ext cx="530352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5844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Tráfego Pago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8221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Meta Ads e Google Ads com segmentação local. CTA direto para WhatsApp.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433425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370832"/>
            <a:ext cx="530352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3891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SEO / Google Meu Negócio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62686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Busca "academia jiu-jitsu cajamar". Perfis verificados com avaliações.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6685" cy="36576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743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0" b="1" i="0">
                <a:solidFill>
                  <a:srgbClr val="151205"/>
                </a:solidFill>
                <a:latin typeface="Arial Black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B84B"/>
                </a:solidFill>
                <a:latin typeface="Courier New"/>
              </a:rPr>
              <a:t>ETAPA 02 · PRÉ-VENDA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5F5F0"/>
                </a:solidFill>
                <a:latin typeface="Arial Black"/>
              </a:rPr>
              <a:t>ENVIO DO 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65760" cy="2286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O SITE COMO FERRAMENTA DE VENDAS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84248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Link enviado imediatamente no primeiro contato no WhatsApp.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68296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042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O aluno visita o site antes da aula experimental — chega motivado.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52344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8833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Site mobile-first: projetado para ser lido no celular.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36392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7238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Cada página reforça a identidade da marca e a autoridade Blackbox.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0440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564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CTAs em todas as páginas levam ao formulário de agendamento.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9319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PÁGINAS DO SITE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224528"/>
            <a:ext cx="1097280" cy="228600"/>
          </a:xfrm>
          <a:prstGeom prst="rect">
            <a:avLst/>
          </a:prstGeom>
          <a:solidFill>
            <a:srgbClr val="181405"/>
          </a:solidFill>
          <a:ln w="635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2245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8B84B"/>
                </a:solidFill>
                <a:latin typeface="Courier New"/>
              </a:rPr>
              <a:t>INÍCIO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37360" y="4224528"/>
            <a:ext cx="1097280" cy="228600"/>
          </a:xfrm>
          <a:prstGeom prst="rect">
            <a:avLst/>
          </a:prstGeom>
          <a:solidFill>
            <a:srgbClr val="2A2A2A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42245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  <a:latin typeface="Courier New"/>
              </a:rPr>
              <a:t>A BLACKBOX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4224528"/>
            <a:ext cx="1097280" cy="228600"/>
          </a:xfrm>
          <a:prstGeom prst="rect">
            <a:avLst/>
          </a:prstGeom>
          <a:solidFill>
            <a:srgbClr val="2A2A2A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42245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  <a:latin typeface="Courier New"/>
              </a:rPr>
              <a:t>MODALIDADES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4224528"/>
            <a:ext cx="1097280" cy="228600"/>
          </a:xfrm>
          <a:prstGeom prst="rect">
            <a:avLst/>
          </a:prstGeom>
          <a:solidFill>
            <a:srgbClr val="2A2A2A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42245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  <a:latin typeface="Courier New"/>
              </a:rPr>
              <a:t>METODOLOGIA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544568"/>
            <a:ext cx="1097280" cy="228600"/>
          </a:xfrm>
          <a:prstGeom prst="rect">
            <a:avLst/>
          </a:prstGeom>
          <a:solidFill>
            <a:srgbClr val="181405"/>
          </a:solidFill>
          <a:ln w="635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5445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8B84B"/>
                </a:solidFill>
                <a:latin typeface="Courier New"/>
              </a:rPr>
              <a:t>PLANOS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7360" y="4544568"/>
            <a:ext cx="1097280" cy="228600"/>
          </a:xfrm>
          <a:prstGeom prst="rect">
            <a:avLst/>
          </a:prstGeom>
          <a:solidFill>
            <a:srgbClr val="2A2A2A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45445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  <a:latin typeface="Courier New"/>
              </a:rPr>
              <a:t>HORÁRIOS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1800" y="4544568"/>
            <a:ext cx="1097280" cy="228600"/>
          </a:xfrm>
          <a:prstGeom prst="rect">
            <a:avLst/>
          </a:prstGeom>
          <a:solidFill>
            <a:srgbClr val="2A2A2A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45445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  <a:latin typeface="Courier New"/>
              </a:rPr>
              <a:t>UNIDADES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4544568"/>
            <a:ext cx="1097280" cy="228600"/>
          </a:xfrm>
          <a:prstGeom prst="rect">
            <a:avLst/>
          </a:prstGeom>
          <a:solidFill>
            <a:srgbClr val="181405"/>
          </a:solidFill>
          <a:ln w="635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45445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8B84B"/>
                </a:solidFill>
                <a:latin typeface="Courier New"/>
              </a:rPr>
              <a:t>CONTATO 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1664208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JORNADA DE NAVEGAÇÃO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19202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1956816"/>
            <a:ext cx="54864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19751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Início — Impacto Visual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221284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Hero BLACKBOX., 3 unidades em destaque e CTA Aula Experimental Grátis.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272491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2761488"/>
            <a:ext cx="54864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277977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Modalidades — O que me interessa?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01752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5 programas com descrição e perfil: BJJ Gi, No-Gi, Feminino, Kids, Defesa.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352958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3566160"/>
            <a:ext cx="54864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35844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Planos — Quanto custa?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382219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Kids, Adulto e Família. FAQ com dúvidas comuns. CTA para WhatsApp por plano.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433425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370832"/>
            <a:ext cx="54864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4389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Unidades — Qual fica perto?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46268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3 unidades com modalidades, endereços e CTA específico por unidade.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513892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5175504"/>
            <a:ext cx="54864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51937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Contato — Agendar aula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543153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Formulário com unidade + modalidade → WhatsApp com mensagem pré-formatada.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75580" cy="36576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743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0" b="1" i="0">
                <a:solidFill>
                  <a:srgbClr val="151205"/>
                </a:solidFill>
                <a:latin typeface="Arial Black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B84B"/>
                </a:solidFill>
                <a:latin typeface="Courier New"/>
              </a:rPr>
              <a:t>ETAPA 03 · CONVERSÃO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5F0"/>
                </a:solidFill>
                <a:latin typeface="Arial Black"/>
              </a:rPr>
              <a:t>FORMULÁRIO &amp; AGENDAMENTO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65760" cy="2286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COMO FUNCIONA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84248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Prospect preenche: nome, telefone, unidade e modalidade.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68296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042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Botão abre o WhatsApp com mensagem pré-formatada — sem atrito.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52344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8833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Equipe recebe mensagem estruturada e confirma o horário.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36392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7238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Aula experimental: gratuita, sem kimono, sem compromisso.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0440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564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Confirmação via WhatsApp com horário, endereço e orientações.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31920"/>
            <a:ext cx="50292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041648"/>
            <a:ext cx="5029200" cy="1463040"/>
          </a:xfrm>
          <a:prstGeom prst="rect">
            <a:avLst/>
          </a:prstGeom>
          <a:solidFill>
            <a:srgbClr val="141208"/>
          </a:solidFill>
          <a:ln w="1270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041648"/>
            <a:ext cx="36576" cy="146304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5137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8B84B"/>
                </a:solidFill>
                <a:latin typeface="Courier New"/>
              </a:rPr>
              <a:t>MENSAGEM ENVIADA AO PROFESSOR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3891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F5F0"/>
                </a:solidFill>
                <a:latin typeface="DM Sans"/>
              </a:rPr>
              <a:t>"Olá! Me chamo João Silva.
Quero agendar uma aula experimental na Blackbox.
Unidade: Portais — Cajamar (Matriz)
Modalidade: BJJ Adultos Gi
Meu contato: (11) 99999-9999"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600200"/>
            <a:ext cx="5486400" cy="493776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600200"/>
            <a:ext cx="5486400" cy="36576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719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B84B"/>
                </a:solidFill>
                <a:latin typeface="Courier New"/>
              </a:rPr>
              <a:t>blackbox.com.br/contato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0299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ourier New"/>
              </a:rPr>
              <a:t>NOME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231136"/>
            <a:ext cx="5120640" cy="292608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24942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0"/>
                </a:solidFill>
                <a:latin typeface="DM Sans"/>
              </a:rPr>
              <a:t>João Silva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6700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ourier New"/>
              </a:rPr>
              <a:t>TELEFONE / WHATSAPP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871216"/>
            <a:ext cx="5120640" cy="292608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288950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0"/>
                </a:solidFill>
                <a:latin typeface="DM Sans"/>
              </a:rPr>
              <a:t>(11) 99999-9999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31012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ourier New"/>
              </a:rPr>
              <a:t>UNIDADE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511296"/>
            <a:ext cx="5120640" cy="292608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52958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0"/>
                </a:solidFill>
                <a:latin typeface="DM Sans"/>
              </a:rPr>
              <a:t>Portais — Cajamar (Matriz)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95020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ourier New"/>
              </a:rPr>
              <a:t>MODALIDADE DE INTERESSE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151376"/>
            <a:ext cx="5120640" cy="292608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416966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0"/>
                </a:solidFill>
                <a:latin typeface="DM Sans"/>
              </a:rPr>
              <a:t>BJJ Adultos Gi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681728"/>
            <a:ext cx="5120640" cy="438912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68172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  <a:latin typeface="Arial Black"/>
              </a:rPr>
              <a:t>QUERO COMEÇAR 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15721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ourier New"/>
              </a:rPr>
              <a:t>Você será redirecionado para o WhatsApp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36576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743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0" b="1" i="0">
                <a:solidFill>
                  <a:srgbClr val="151205"/>
                </a:solidFill>
                <a:latin typeface="Arial Black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B84B"/>
                </a:solidFill>
                <a:latin typeface="Courier New"/>
              </a:rPr>
              <a:t>ETAPA 04 · O MOMENTO DECISIVO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5F5F0"/>
                </a:solidFill>
                <a:latin typeface="Arial Black"/>
              </a:rPr>
              <a:t>AULA EXPERIMENTAL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65760" cy="2286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PROTOCOLO DE RECEPÇÃO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75104"/>
            <a:ext cx="45720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93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Acolhimento imediato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311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Recepcionar pelo nome. Apresentar as instalações. Eliminar o nervosismo.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8833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743200"/>
            <a:ext cx="45720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614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Apresentação à equipe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992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Apresentar o professor e a turma. Criar sentimento de pertencimento.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5643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511296"/>
            <a:ext cx="45720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295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Participação na aula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673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Aquecimento → técnica → drilling → sparring controlado para iniciantes.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2452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279392"/>
            <a:ext cx="45720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297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Conversa pós-treino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354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Escuta ativa: 'O que você achou?' Apresentar o plano ideal ao perfil.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99262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5047488"/>
            <a:ext cx="45720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6577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Fechar na hora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Ter o app BaseBJJ pronto. A decisão é emocional — facilitar o processo.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600200"/>
            <a:ext cx="5394960" cy="1188720"/>
          </a:xfrm>
          <a:prstGeom prst="rect">
            <a:avLst/>
          </a:prstGeom>
          <a:solidFill>
            <a:srgbClr val="141208"/>
          </a:solidFill>
          <a:ln w="1270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1728216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A03A"/>
                </a:solidFill>
                <a:latin typeface="Courier New"/>
              </a:rPr>
              <a:t>TAXA DE CONVERSÃO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189280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B84B"/>
                </a:solidFill>
                <a:latin typeface="Arial Black"/>
              </a:rPr>
              <a:t>80%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23500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DM Sans"/>
              </a:rPr>
              <a:t>Das pessoas que fazem a aula
experimental se matriculam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834640"/>
            <a:ext cx="539496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29077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OBJEÇÕES MAIS COMUNS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227832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1638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"Vou me sentir fora de lugar?" → Ambiente acolhedor. Todos foram faixa branca.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611880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547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"Quanto custa?" → Planos claros, sem surpresas. Mostrar custo-benefício.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995928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9319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"Tenho tempo?" → Grade ampla, 3 unidades, reposição de aulas.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379976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3159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"Preciso comprar kimono?" → Não. Pode começar com roupa de treino.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809744"/>
            <a:ext cx="5394960" cy="822960"/>
          </a:xfrm>
          <a:prstGeom prst="rect">
            <a:avLst/>
          </a:prstGeom>
          <a:solidFill>
            <a:srgbClr val="141208"/>
          </a:solidFill>
          <a:ln w="1270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809744"/>
            <a:ext cx="36576" cy="82296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91947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8B84B"/>
                </a:solidFill>
                <a:latin typeface="Courier New"/>
              </a:rPr>
              <a:t>FRASE DE FECHAMENTO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1389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F5F0"/>
                </a:solidFill>
                <a:latin typeface="DM Sans"/>
              </a:rPr>
              <a:t>"Você gostou? Que tal começar semana que vem? Posso mostrar o cadastro agora — leva 3 minutos."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3371" cy="36576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743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0" b="1" i="0">
                <a:solidFill>
                  <a:srgbClr val="151205"/>
                </a:solidFill>
                <a:latin typeface="Arial Black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B84B"/>
                </a:solidFill>
                <a:latin typeface="Courier New"/>
              </a:rPr>
              <a:t>ETAPA 05 · CADASTRO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5F5F0"/>
                </a:solidFill>
                <a:latin typeface="Arial Black"/>
              </a:rPr>
              <a:t>CADASTRO — APP BASEBJJ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65760" cy="2286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O QUE É O BASEBJJ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84248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basebjj.com.br — plataforma de gestão para academias de Jiu-Jitsu.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68296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042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Gerencia alunos, matrículas, pagamentos, frequência e graduações.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52344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8833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Professor tem acesso via painel web. Aluno acessa histórico pelo app.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36392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7238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Notificações automáticas de vencimento reduzem inadimplência.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9584"/>
            <a:ext cx="50292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393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DADOS COLETADOS NO CADASTRO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77640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1363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Pessoais: nome completo, CPF, data de nascimento, endereço.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43400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7939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Contato: e-mail, celular, contato de emergência.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709160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4515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Graduação: faixa atual e número de graus.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074920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Plano escolhido e unidade principal de treino.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440680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37667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Termo de responsabilidade digital assinado eletronicamente.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806440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Foto do aluno para identificação no sistema.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600200"/>
            <a:ext cx="5486400" cy="493776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1600200"/>
            <a:ext cx="5486400" cy="36576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719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B84B"/>
                </a:solidFill>
                <a:latin typeface="Courier New"/>
              </a:rPr>
              <a:t>App BaseBJJ · Perfil do Aluno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2029968"/>
            <a:ext cx="502920" cy="502920"/>
          </a:xfrm>
          <a:prstGeom prst="ellipse">
            <a:avLst/>
          </a:prstGeom>
          <a:solidFill>
            <a:srgbClr val="2A2A2A"/>
          </a:solidFill>
          <a:ln w="12700">
            <a:solidFill>
              <a:srgbClr val="443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06654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F5F0"/>
                </a:solidFill>
                <a:latin typeface="Arial Black"/>
              </a:rPr>
              <a:t>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20482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0"/>
                </a:solidFill>
                <a:latin typeface="Arial Black"/>
              </a:rPr>
              <a:t>JOÃO SILVA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95160" y="2359152"/>
            <a:ext cx="1371600" cy="219456"/>
          </a:xfrm>
          <a:prstGeom prst="rect">
            <a:avLst/>
          </a:prstGeom>
          <a:solidFill>
            <a:srgbClr val="181405"/>
          </a:solidFill>
          <a:ln w="635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235915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8B84B"/>
                </a:solidFill>
                <a:latin typeface="Courier New"/>
              </a:rPr>
              <a:t>FAIXA BRANCA · 0 GRAUS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2706624"/>
            <a:ext cx="530352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27432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PLANO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27432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0"/>
                </a:solidFill>
                <a:latin typeface="Courier New"/>
              </a:rPr>
              <a:t>Adulto — Ilimitado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017520"/>
            <a:ext cx="5303520" cy="914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044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UNIDADE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30449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0"/>
                </a:solidFill>
                <a:latin typeface="Courier New"/>
              </a:rPr>
              <a:t>Portais · Matriz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3319272"/>
            <a:ext cx="5303520" cy="914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334670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STATUS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33467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B84B"/>
                </a:solidFill>
                <a:latin typeface="Courier New"/>
              </a:rPr>
              <a:t>● Ativo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3621024"/>
            <a:ext cx="5303520" cy="914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364845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VENCIMENTO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36484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0"/>
                </a:solidFill>
                <a:latin typeface="Courier New"/>
              </a:rPr>
              <a:t>Dia 05 / mês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3922776"/>
            <a:ext cx="5303520" cy="914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39502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FREQUÊNCIA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39502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0"/>
                </a:solidFill>
                <a:latin typeface="Courier New"/>
              </a:rPr>
              <a:t>0 aulas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4224528"/>
            <a:ext cx="5303520" cy="914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251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MODALIDADE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42519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0"/>
                </a:solidFill>
                <a:latin typeface="Courier New"/>
              </a:rPr>
              <a:t>BJJ Adultos Gi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4526280"/>
            <a:ext cx="5303520" cy="914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09360" y="4599432"/>
            <a:ext cx="5303520" cy="292608"/>
          </a:xfrm>
          <a:prstGeom prst="rect">
            <a:avLst/>
          </a:prstGeom>
          <a:solidFill>
            <a:srgbClr val="141205"/>
          </a:solidFill>
          <a:ln w="635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0" y="459943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8B84B"/>
                </a:solidFill>
                <a:latin typeface="Courier New"/>
              </a:rPr>
              <a:t>Termo de Responsabilidade · Assinado 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532266" cy="36576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743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0" b="1" i="0">
                <a:solidFill>
                  <a:srgbClr val="151205"/>
                </a:solidFill>
                <a:latin typeface="Arial Black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B84B"/>
                </a:solidFill>
                <a:latin typeface="Courier New"/>
              </a:rPr>
              <a:t>ETAPA 06 · ATIVAÇÃO FINANCEIRA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5F5F0"/>
                </a:solidFill>
                <a:latin typeface="Arial Black"/>
              </a:rPr>
              <a:t>PAGAMENTO &amp; MATRÍCULA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65760" cy="2286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PROCESSO VIA BASEBJJ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75104"/>
            <a:ext cx="45720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93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Taxa de Matrícula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311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Cobrada uma única vez. Pode ser zerada em campanhas — a critério do mestre.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51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706624"/>
            <a:ext cx="45720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Primeira Mensalidade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626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Paga no ato do cadastro. Pro-rata ou mês cheio. PIX, crédito ou débito.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832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438144"/>
            <a:ext cx="45720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4564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Notificações Automáticas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6941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BaseBJJ envia lembretes de vencimento: D-3, D-0 e D+3 via WhatsApp.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148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169664"/>
            <a:ext cx="45720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87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Gestão de Inadimplência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4256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Aluno em atraso sinalizado. Professor notificado. Protocolo de recuperação acionado.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901184"/>
            <a:ext cx="45720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919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Aluno Ativado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1572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Status Ativo no BaseBJJ. Professor notificado: Novo aluno matriculado.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600200"/>
            <a:ext cx="2606040" cy="1600200"/>
          </a:xfrm>
          <a:prstGeom prst="rect">
            <a:avLst/>
          </a:prstGeom>
          <a:solidFill>
            <a:srgbClr val="141208"/>
          </a:solidFill>
          <a:ln w="1270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1728216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A03A"/>
                </a:solidFill>
                <a:latin typeface="Courier New"/>
              </a:rPr>
              <a:t>FORMAS ACEITAS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189280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B84B"/>
                </a:solidFill>
                <a:latin typeface="Arial Black"/>
              </a:rPr>
              <a:t>PIX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235000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DM Sans"/>
              </a:rPr>
              <a:t>Crédito · Débito · Boleto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5400" y="1600200"/>
            <a:ext cx="2606040" cy="1600200"/>
          </a:xfrm>
          <a:prstGeom prst="rect">
            <a:avLst/>
          </a:prstGeom>
          <a:solidFill>
            <a:srgbClr val="141208"/>
          </a:solidFill>
          <a:ln w="1270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9992" y="1728216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A03A"/>
                </a:solidFill>
                <a:latin typeface="Courier New"/>
              </a:rPr>
              <a:t>RECORRÊNCIA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9992" y="189280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B84B"/>
                </a:solidFill>
                <a:latin typeface="Arial Black"/>
              </a:rPr>
              <a:t>Mensal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9992" y="235000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DM Sans"/>
              </a:rPr>
              <a:t>Gestão completa pelo BaseBJJ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383280"/>
            <a:ext cx="2606040" cy="1600200"/>
          </a:xfrm>
          <a:prstGeom prst="rect">
            <a:avLst/>
          </a:prstGeom>
          <a:solidFill>
            <a:srgbClr val="141208"/>
          </a:solidFill>
          <a:ln w="1270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3511296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A03A"/>
                </a:solidFill>
                <a:latin typeface="Courier New"/>
              </a:rPr>
              <a:t>RÉGUA AUTOMÁTICA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367588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B84B"/>
                </a:solidFill>
                <a:latin typeface="Arial Black"/>
              </a:rPr>
              <a:t>Auto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413308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DM Sans"/>
              </a:rPr>
              <a:t>D-3 · D-0 · D+3 via WhatsApp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15400" y="3383280"/>
            <a:ext cx="2606040" cy="1600200"/>
          </a:xfrm>
          <a:prstGeom prst="rect">
            <a:avLst/>
          </a:prstGeom>
          <a:solidFill>
            <a:srgbClr val="141208"/>
          </a:solidFill>
          <a:ln w="1270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79992" y="3511296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A03A"/>
                </a:solidFill>
                <a:latin typeface="Courier New"/>
              </a:rPr>
              <a:t>RECIBO DIGITAL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9992" y="367588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B84B"/>
                </a:solidFill>
                <a:latin typeface="Arial Black"/>
              </a:rPr>
              <a:t>Email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9992" y="413308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DM Sans"/>
              </a:rPr>
              <a:t>Enviado após cada pagamento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5074920"/>
            <a:ext cx="5486400" cy="1005840"/>
          </a:xfrm>
          <a:prstGeom prst="rect">
            <a:avLst/>
          </a:prstGeom>
          <a:solidFill>
            <a:srgbClr val="141208"/>
          </a:solidFill>
          <a:ln w="1270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5074920"/>
            <a:ext cx="36576" cy="100584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18464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8B84B"/>
                </a:solidFill>
                <a:latin typeface="Courier New"/>
              </a:rPr>
              <a:t>APÓS O PAGAMENTO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5495544"/>
            <a:ext cx="54864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47104" y="54406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0"/>
                </a:solidFill>
                <a:latin typeface="DM Sans"/>
              </a:rPr>
              <a:t>Aluno marcado como Ativo no BaseBJJ.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5769864"/>
            <a:ext cx="54864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47104" y="57150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0"/>
                </a:solidFill>
                <a:latin typeface="DM Sans"/>
              </a:rPr>
              <a:t>Acesso liberado ao registro de frequência e histórico.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044184"/>
            <a:ext cx="54864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47104" y="5989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0"/>
                </a:solidFill>
                <a:latin typeface="DM Sans"/>
              </a:rPr>
              <a:t>Professor recebe notificação de novo aluno matriculado.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1161" cy="36576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743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0" b="1" i="0">
                <a:solidFill>
                  <a:srgbClr val="151205"/>
                </a:solidFill>
                <a:latin typeface="Arial Black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B84B"/>
                </a:solidFill>
                <a:latin typeface="Courier New"/>
              </a:rPr>
              <a:t>ETAPA 07 · INTEGRAÇÃO E ROTINA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F5F0"/>
                </a:solidFill>
                <a:latin typeface="Arial Black"/>
              </a:rPr>
              <a:t>ACESSO À ACADEMIA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65760" cy="2286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ONBOARDING — PRIMEIROS 30 DIAS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84248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Semana 1: Apresentação formal à turma. Dinâmica das aulas explicada.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68296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042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Semana 2: Primeiro kimono. Posições básicas, defesa, movimentação.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52344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8833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Semana 3: Sparring supervisionado com parceiros de nível similar.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36392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7238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Semana 4: Check-in com o professor. Aluno percebe primeiros progressos.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9584"/>
            <a:ext cx="50292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393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FERRAMENTAS DE ENGAJAMENTO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77640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136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Grupo de WhatsApp da turma — eventos, horários, motivação.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61688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976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Frequência no BaseBJJ — aluno acompanha evolução em tempo real.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745736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817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Instagram da academia — aluno marcado em posts cria vínculo social.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129784"/>
            <a:ext cx="64008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06577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3 unidades acessíveis — flexibilidade aumenta a retenção.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600200"/>
            <a:ext cx="5486400" cy="493776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1600200"/>
            <a:ext cx="5486400" cy="36576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719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B84B"/>
                </a:solidFill>
                <a:latin typeface="Courier New"/>
              </a:rPr>
              <a:t>BaseBJJ · Frequência — João Silva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712463"/>
            <a:ext cx="685800" cy="36576"/>
          </a:xfrm>
          <a:prstGeom prst="rect">
            <a:avLst/>
          </a:prstGeom>
          <a:solidFill>
            <a:srgbClr val="30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456431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02C14"/>
                </a:solidFill>
                <a:latin typeface="Arial Black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785615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ourier New"/>
              </a:rPr>
              <a:t>Jan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2651759"/>
            <a:ext cx="685800" cy="1097280"/>
          </a:xfrm>
          <a:prstGeom prst="rect">
            <a:avLst/>
          </a:prstGeom>
          <a:solidFill>
            <a:srgbClr val="30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2395727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02C14"/>
                </a:solidFill>
                <a:latin typeface="Arial Black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785615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ourier New"/>
              </a:rPr>
              <a:t>Fev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2103119"/>
            <a:ext cx="685800" cy="1645920"/>
          </a:xfrm>
          <a:prstGeom prst="rect">
            <a:avLst/>
          </a:prstGeom>
          <a:solidFill>
            <a:srgbClr val="30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1847087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02C14"/>
                </a:solidFill>
                <a:latin typeface="Arial Black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785615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ourier New"/>
              </a:rPr>
              <a:t>Mar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2377439"/>
            <a:ext cx="685800" cy="1371600"/>
          </a:xfrm>
          <a:prstGeom prst="rect">
            <a:avLst/>
          </a:prstGeom>
          <a:solidFill>
            <a:srgbClr val="30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2121407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02C14"/>
                </a:solidFill>
                <a:latin typeface="Arial Black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3785615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ourier New"/>
              </a:rPr>
              <a:t>Abr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49840" y="3200399"/>
            <a:ext cx="685800" cy="54864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49840" y="2944367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B84B"/>
                </a:solidFill>
                <a:latin typeface="Arial Black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3785615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ourier New"/>
              </a:rPr>
              <a:t>Mai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3749039"/>
            <a:ext cx="530352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39319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AULAS ESTE MÊS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9319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B84B"/>
                </a:solidFill>
                <a:latin typeface="Courier New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4206240"/>
            <a:ext cx="5303520" cy="914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424281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TOTAL ACUMULADO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424281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0"/>
                </a:solidFill>
                <a:latin typeface="Courier New"/>
              </a:rPr>
              <a:t>34 aulas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4517136"/>
            <a:ext cx="5303520" cy="914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5537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META MENSAL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4553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0"/>
                </a:solidFill>
                <a:latin typeface="Courier New"/>
              </a:rPr>
              <a:t>12 aulas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4828032"/>
            <a:ext cx="5303520" cy="914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6460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PRÓX. AVALIAÇÃO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48646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B84B"/>
                </a:solidFill>
                <a:latin typeface="Courier New"/>
              </a:rPr>
              <a:t>Pendente 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5138928"/>
            <a:ext cx="5303520" cy="914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0056" cy="36576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2743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0" b="1" i="0">
                <a:solidFill>
                  <a:srgbClr val="151205"/>
                </a:solidFill>
                <a:latin typeface="Arial Black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B84B"/>
                </a:solidFill>
                <a:latin typeface="Courier New"/>
              </a:rPr>
              <a:t>ETAPA 08 · EVOLUÇÃO CONTÍNUA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5F5F0"/>
                </a:solidFill>
                <a:latin typeface="Arial Black"/>
              </a:rPr>
              <a:t>GESTÃO DE GRADUAÇÕES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65760" cy="2286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CRITÉRIOS DE GRADUAÇÃO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75104"/>
            <a:ext cx="45720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93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Frequência Mínima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311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Aulas registradas no BaseBJJ por faixa. Rastreado automaticamente.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51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706624"/>
            <a:ext cx="45720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Evolução Técnica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626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Avaliação do professor: qualidade nas posições fundamentais da faixa atual.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832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438144"/>
            <a:ext cx="45720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4564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Comportamento e Atitude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6941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Respeito ao professor, companheiros e às regras do tatame. Disciplina.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148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43A18"/>
                </a:solidFill>
                <a:latin typeface="Arial Black"/>
              </a:rPr>
              <a:t>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169664"/>
            <a:ext cx="457200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87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DM Sans"/>
              </a:rPr>
              <a:t>Tempo Mínimo na Faixa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4256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DM Sans"/>
              </a:rPr>
              <a:t>Diretrizes IBJJF respeitadas. Critérios transparentes para aluno e professor.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937760"/>
            <a:ext cx="5029200" cy="1005840"/>
          </a:xfrm>
          <a:prstGeom prst="rect">
            <a:avLst/>
          </a:prstGeom>
          <a:solidFill>
            <a:srgbClr val="141208"/>
          </a:solidFill>
          <a:ln w="1270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937760"/>
            <a:ext cx="36576" cy="100584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04748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8B84B"/>
                </a:solidFill>
                <a:latin typeface="Courier New"/>
              </a:rPr>
              <a:t>CERIMÔNIA DE GRADUAÇÃO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330952"/>
            <a:ext cx="54864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28523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0"/>
                </a:solidFill>
                <a:latin typeface="DM Sans"/>
              </a:rPr>
              <a:t>Realizada no tatame, na frente da turma — reconhecimento público.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586984"/>
            <a:ext cx="54864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54126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0"/>
                </a:solidFill>
                <a:latin typeface="DM Sans"/>
              </a:rPr>
              <a:t>Registro fotográfico e publicação no Instagram da academia.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843016"/>
            <a:ext cx="54864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79729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0"/>
                </a:solidFill>
                <a:latin typeface="DM Sans"/>
              </a:rPr>
              <a:t>Faixa e data atualizadas no BaseBJJ pelo professor imediatamente.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166420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PROGRESSÃO DE FAIXAS — ADULTO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920240"/>
            <a:ext cx="5394960" cy="438912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2039112"/>
            <a:ext cx="438912" cy="201168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31152" y="1965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F5F0"/>
                </a:solidFill>
                <a:latin typeface="Courier New"/>
              </a:rPr>
              <a:t>FAIXA BRANCA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1152" y="215798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DM Sans"/>
              </a:rPr>
              <a:t>Fundamentos · 2 anos mín.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2414016"/>
            <a:ext cx="5394960" cy="438912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55080" y="2532888"/>
            <a:ext cx="438912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31152" y="245973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F5F0"/>
                </a:solidFill>
                <a:latin typeface="Courier New"/>
              </a:rPr>
              <a:t>FAIXA AZUL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31152" y="2651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DM Sans"/>
              </a:rPr>
              <a:t>Consolidação técnica · 2 anos mín.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907792"/>
            <a:ext cx="5394960" cy="438912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5080" y="3026664"/>
            <a:ext cx="438912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31152" y="29535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F5F0"/>
                </a:solidFill>
                <a:latin typeface="Courier New"/>
              </a:rPr>
              <a:t>FAIXA ROXA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31152" y="314553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DM Sans"/>
              </a:rPr>
              <a:t>Jogo próprio · 1,5 ano mín.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401568"/>
            <a:ext cx="5394960" cy="438912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55080" y="3520440"/>
            <a:ext cx="438912" cy="201168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31152" y="34472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F5F0"/>
                </a:solidFill>
                <a:latin typeface="Courier New"/>
              </a:rPr>
              <a:t>FAIXA MARROM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31152" y="36393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DM Sans"/>
              </a:rPr>
              <a:t>Refinamento · 1 ano mín.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3895344"/>
            <a:ext cx="5394960" cy="438912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55080" y="4014216"/>
            <a:ext cx="438912" cy="201168"/>
          </a:xfrm>
          <a:prstGeom prst="rect">
            <a:avLst/>
          </a:prstGeom>
          <a:solidFill>
            <a:srgbClr val="0A0A0A"/>
          </a:solidFill>
          <a:ln w="9525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31152" y="39410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F5F0"/>
                </a:solidFill>
                <a:latin typeface="Courier New"/>
              </a:rPr>
              <a:t>FAIXA PRETA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31152" y="41330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DM Sans"/>
              </a:rPr>
              <a:t>Maestria · Legado no esporte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4526280"/>
            <a:ext cx="5394960" cy="228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4617720"/>
            <a:ext cx="5394960" cy="1737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17920" y="4617720"/>
            <a:ext cx="5394960" cy="36576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47365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B84B"/>
                </a:solidFill>
                <a:latin typeface="Courier New"/>
              </a:rPr>
              <a:t>BaseBJJ · Registro de Graduação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502920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ALUNO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502920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0"/>
                </a:solidFill>
                <a:latin typeface="Courier New"/>
              </a:rPr>
              <a:t>João Silva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5285232"/>
            <a:ext cx="5303520" cy="914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530352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FAIXA ANTERIOR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530352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0"/>
                </a:solidFill>
                <a:latin typeface="Courier New"/>
              </a:rPr>
              <a:t>Branca · 3 graus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09360" y="5559552"/>
            <a:ext cx="5303520" cy="914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5080" y="557784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NOVA FAIXA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55778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563EB"/>
                </a:solidFill>
                <a:latin typeface="Courier New"/>
              </a:rPr>
              <a:t>Azul · 0 graus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5833872"/>
            <a:ext cx="5303520" cy="914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55080" y="585216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DATA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0" y="585216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0"/>
                </a:solidFill>
                <a:latin typeface="Courier New"/>
              </a:rPr>
              <a:t>15/05/2025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09360" y="6108192"/>
            <a:ext cx="5303520" cy="914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55080" y="612648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PROFESSOR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612648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B84B"/>
                </a:solidFill>
                <a:latin typeface="Courier New"/>
              </a:rPr>
              <a:t>✓ Registrado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6382512"/>
            <a:ext cx="5303520" cy="914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B84B"/>
                </a:solidFill>
                <a:latin typeface="Courier New"/>
              </a:rPr>
              <a:t>O CICLO NUNCA TERMINA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5F0"/>
                </a:solidFill>
                <a:latin typeface="Arial Black"/>
              </a:rPr>
              <a:t>O ALUNO NUNCA CHEGA AO
FIM DA JORNADA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365760" cy="2286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04088" y="1901952"/>
            <a:ext cx="411480" cy="411480"/>
          </a:xfrm>
          <a:prstGeom prst="ellipse">
            <a:avLst/>
          </a:prstGeom>
          <a:solidFill>
            <a:srgbClr val="2A2A2A"/>
          </a:solidFill>
          <a:ln w="19050">
            <a:solidFill>
              <a:srgbClr val="44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44028"/>
                </a:solidFill>
                <a:latin typeface="Arial Black"/>
              </a:rPr>
              <a:t>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395728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03A"/>
                </a:solidFill>
                <a:latin typeface="Courier New"/>
              </a:rPr>
              <a:t>WhatsApp
Contato</a:t>
            </a:r>
          </a:p>
        </p:txBody>
      </p:sp>
      <p:sp>
        <p:nvSpPr>
          <p:cNvPr id="8" name="Rectangle 7"/>
          <p:cNvSpPr/>
          <p:nvPr/>
        </p:nvSpPr>
        <p:spPr>
          <a:xfrm>
            <a:off x="1536192" y="2240280"/>
            <a:ext cx="201168" cy="182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93392" y="1901952"/>
            <a:ext cx="411480" cy="411480"/>
          </a:xfrm>
          <a:prstGeom prst="ellipse">
            <a:avLst/>
          </a:prstGeom>
          <a:solidFill>
            <a:srgbClr val="2A2A2A"/>
          </a:solidFill>
          <a:ln w="19050">
            <a:solidFill>
              <a:srgbClr val="44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44028"/>
                </a:solidFill>
                <a:latin typeface="Arial Black"/>
              </a:rPr>
              <a:t>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2395728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03A"/>
                </a:solidFill>
                <a:latin typeface="Courier New"/>
              </a:rPr>
              <a:t>Site
Blackbox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25496" y="2240280"/>
            <a:ext cx="201168" cy="182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82696" y="1901952"/>
            <a:ext cx="411480" cy="411480"/>
          </a:xfrm>
          <a:prstGeom prst="ellipse">
            <a:avLst/>
          </a:prstGeom>
          <a:solidFill>
            <a:srgbClr val="2A2A2A"/>
          </a:solidFill>
          <a:ln w="19050">
            <a:solidFill>
              <a:srgbClr val="44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44028"/>
                </a:solidFill>
                <a:latin typeface="Arial Black"/>
              </a:rPr>
              <a:t>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395728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03A"/>
                </a:solidFill>
                <a:latin typeface="Courier New"/>
              </a:rPr>
              <a:t>Formulário
Agend.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2240280"/>
            <a:ext cx="201168" cy="182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0" y="1901952"/>
            <a:ext cx="411480" cy="411480"/>
          </a:xfrm>
          <a:prstGeom prst="ellipse">
            <a:avLst/>
          </a:prstGeom>
          <a:solidFill>
            <a:srgbClr val="2A2A2A"/>
          </a:solidFill>
          <a:ln w="19050">
            <a:solidFill>
              <a:srgbClr val="44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44028"/>
                </a:solidFill>
                <a:latin typeface="Arial Black"/>
              </a:rPr>
              <a:t>Aula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2" y="2395728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03A"/>
                </a:solidFill>
                <a:latin typeface="Courier New"/>
              </a:rPr>
              <a:t>Aula
Exp.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4104" y="2240280"/>
            <a:ext cx="201168" cy="182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61304" y="1901952"/>
            <a:ext cx="411480" cy="411480"/>
          </a:xfrm>
          <a:prstGeom prst="ellipse">
            <a:avLst/>
          </a:prstGeom>
          <a:solidFill>
            <a:srgbClr val="2A2A2A"/>
          </a:solidFill>
          <a:ln w="19050">
            <a:solidFill>
              <a:srgbClr val="44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44028"/>
                </a:solidFill>
                <a:latin typeface="Arial Black"/>
              </a:rPr>
              <a:t>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7256" y="2395728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03A"/>
                </a:solidFill>
                <a:latin typeface="Courier New"/>
              </a:rPr>
              <a:t>Cadastro
BaseBJJ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93408" y="2240280"/>
            <a:ext cx="201168" cy="182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50608" y="1901952"/>
            <a:ext cx="411480" cy="411480"/>
          </a:xfrm>
          <a:prstGeom prst="ellipse">
            <a:avLst/>
          </a:prstGeom>
          <a:solidFill>
            <a:srgbClr val="2A2A2A"/>
          </a:solidFill>
          <a:ln w="19050">
            <a:solidFill>
              <a:srgbClr val="44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44028"/>
                </a:solidFill>
                <a:latin typeface="Arial Black"/>
              </a:rPr>
              <a:t>Pag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395728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03A"/>
                </a:solidFill>
                <a:latin typeface="Courier New"/>
              </a:rPr>
              <a:t>Pagamento
Matríc.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2712" y="2240280"/>
            <a:ext cx="201168" cy="182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39912" y="1901952"/>
            <a:ext cx="411480" cy="411480"/>
          </a:xfrm>
          <a:prstGeom prst="ellipse">
            <a:avLst/>
          </a:prstGeom>
          <a:solidFill>
            <a:srgbClr val="2A2A2A"/>
          </a:solidFill>
          <a:ln w="19050">
            <a:solidFill>
              <a:srgbClr val="44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44028"/>
                </a:solidFill>
                <a:latin typeface="Arial Black"/>
              </a:rPr>
              <a:t>BJJ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2395728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03A"/>
                </a:solidFill>
                <a:latin typeface="Courier New"/>
              </a:rPr>
              <a:t>Acesso
Academia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72016" y="2240280"/>
            <a:ext cx="201168" cy="182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29216" y="1901952"/>
            <a:ext cx="411480" cy="411480"/>
          </a:xfrm>
          <a:prstGeom prst="ellipse">
            <a:avLst/>
          </a:prstGeom>
          <a:solidFill>
            <a:srgbClr val="2A2A2A"/>
          </a:solidFill>
          <a:ln w="19050">
            <a:solidFill>
              <a:srgbClr val="44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44028"/>
                </a:solidFill>
                <a:latin typeface="Arial Black"/>
              </a:rPr>
              <a:t>Grad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2395728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03A"/>
                </a:solidFill>
                <a:latin typeface="Courier New"/>
              </a:rPr>
              <a:t>Graduação
Evolução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51592" y="2240280"/>
            <a:ext cx="201168" cy="182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63072" y="1901952"/>
            <a:ext cx="411480" cy="411480"/>
          </a:xfrm>
          <a:prstGeom prst="ellipse">
            <a:avLst/>
          </a:prstGeom>
          <a:solidFill>
            <a:srgbClr val="2A2A2A"/>
          </a:solidFill>
          <a:ln w="1905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8B84B"/>
                </a:solidFill>
                <a:latin typeface="Arial Black"/>
              </a:rPr>
              <a:t>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07624" y="239572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8B84B"/>
                </a:solidFill>
                <a:latin typeface="Courier New"/>
              </a:rPr>
              <a:t>Reinicia
Ciclo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926080"/>
            <a:ext cx="1161288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3063240"/>
            <a:ext cx="2743200" cy="2286000"/>
          </a:xfrm>
          <a:prstGeom prst="rect">
            <a:avLst/>
          </a:prstGeom>
          <a:solidFill>
            <a:srgbClr val="141208"/>
          </a:solidFill>
          <a:ln w="1270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3063240"/>
            <a:ext cx="36576" cy="22860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1821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B84B"/>
                </a:solidFill>
                <a:latin typeface="Courier New"/>
              </a:rPr>
              <a:t>RETENÇÃO NATURAL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493008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0"/>
                </a:solidFill>
                <a:latin typeface="DM Sans"/>
              </a:rPr>
              <a:t>A faixa seguinte cria um novo objetivo.
Quem recebe um grau quer o próximo.
A jornada nunca termina.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3063240"/>
            <a:ext cx="2743200" cy="228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0" y="31821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INDICAÇÃO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3493008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0"/>
                </a:solidFill>
                <a:latin typeface="DM Sans"/>
              </a:rPr>
              <a:t>Alunos satisfeitos trazem amigos e
familiares. O ciclo recomeça com
custo zero de aquisição.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3063240"/>
            <a:ext cx="2743200" cy="228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31821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ourier New"/>
              </a:rPr>
              <a:t>DADOS &amp; GESTÃO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93008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0"/>
                </a:solidFill>
                <a:latin typeface="DM Sans"/>
              </a:rPr>
              <a:t>Todo histórico no BaseBJJ: frequência,
pagamentos e graduações — decisões
baseadas em dados reais.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0" y="3063240"/>
            <a:ext cx="2743200" cy="2286000"/>
          </a:xfrm>
          <a:prstGeom prst="rect">
            <a:avLst/>
          </a:prstGeom>
          <a:solidFill>
            <a:srgbClr val="141208"/>
          </a:solidFill>
          <a:ln w="12700"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1120" y="3063240"/>
            <a:ext cx="36576" cy="22860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31821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B84B"/>
                </a:solidFill>
                <a:latin typeface="Courier New"/>
              </a:rPr>
              <a:t>ECOSSISTEMA COMPLETO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3493008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0"/>
                </a:solidFill>
                <a:latin typeface="DM Sans"/>
              </a:rPr>
              <a:t>Site + BaseBJJ + WhatsApp formam um
sistema integrado de captação,
conversão e retenção.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806440"/>
            <a:ext cx="2377440" cy="91440"/>
          </a:xfrm>
          <a:prstGeom prst="rect">
            <a:avLst/>
          </a:prstGeom>
          <a:solidFill>
            <a:srgbClr val="555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15768" y="5806440"/>
            <a:ext cx="237744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11496" y="5806440"/>
            <a:ext cx="237744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507224" y="5806440"/>
            <a:ext cx="2377440" cy="9144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02952" y="5806440"/>
            <a:ext cx="2377440" cy="9144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60167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02C14"/>
                </a:solidFill>
                <a:latin typeface="Arial Black"/>
              </a:rPr>
              <a:t>BLACKBOX.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60533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A3830"/>
                </a:solidFill>
                <a:latin typeface="Courier New"/>
              </a:rPr>
              <a:t>APRESENTAÇÃO INTERNA ·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